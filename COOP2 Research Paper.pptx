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535" autoAdjust="0"/>
  </p:normalViewPr>
  <p:slideViewPr>
    <p:cSldViewPr snapToGrid="0">
      <p:cViewPr varScale="1">
        <p:scale>
          <a:sx n="96" d="100"/>
          <a:sy n="96" d="100"/>
        </p:scale>
        <p:origin x="1066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" name="Google Shape;16;p1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18;p1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22;p1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Google Shape;24;p1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/>
        </p:nvSpPr>
        <p:spPr>
          <a:xfrm>
            <a:off x="457200" y="1382584"/>
            <a:ext cx="8229600" cy="114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lvl="0"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Analytics in SAP Analytics Cloud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520811" y="2662916"/>
            <a:ext cx="8229600" cy="344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lvl="0"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Study of Impact and User Adoption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457200" y="3606048"/>
            <a:ext cx="82296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556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  <a:endParaRPr dirty="0"/>
          </a:p>
        </p:txBody>
      </p:sp>
      <p:sp>
        <p:nvSpPr>
          <p:cNvPr id="85" name="Google Shape;85;p14"/>
          <p:cNvSpPr txBox="1"/>
          <p:nvPr/>
        </p:nvSpPr>
        <p:spPr>
          <a:xfrm>
            <a:off x="457200" y="3910788"/>
            <a:ext cx="8229600" cy="590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Prerna Dua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(2210990680)</a:t>
            </a:r>
            <a:endParaRPr sz="1800" dirty="0">
              <a:solidFill>
                <a:srgbClr val="1F29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457200" y="4343400"/>
            <a:ext cx="8229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457200" y="4983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6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457200" y="5303520"/>
            <a:ext cx="8229600" cy="28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Times New Roman"/>
                <a:cs typeface="Times New Roman"/>
                <a:sym typeface="Times New Roman"/>
              </a:rPr>
              <a:t>Dr. Preeti Saini</a:t>
            </a:r>
            <a:endParaRPr dirty="0"/>
          </a:p>
        </p:txBody>
      </p:sp>
      <p:sp>
        <p:nvSpPr>
          <p:cNvPr id="89" name="Google Shape;89;p14"/>
          <p:cNvSpPr txBox="1"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56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56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 Institute of Engineering and Technology, Punjab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 dirty="0">
                <a:solidFill>
                  <a:srgbClr val="141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dirty="0"/>
          </a:p>
        </p:txBody>
      </p:sp>
      <p:sp>
        <p:nvSpPr>
          <p:cNvPr id="96" name="Google Shape;96;p15"/>
          <p:cNvSpPr/>
          <p:nvPr/>
        </p:nvSpPr>
        <p:spPr>
          <a:xfrm>
            <a:off x="457200" y="1554480"/>
            <a:ext cx="7315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397565" y="1956816"/>
            <a:ext cx="7315200" cy="3268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Introduction &amp; Motivation </a:t>
            </a: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Problem Statement </a:t>
            </a: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Literature Review </a:t>
            </a: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Research Objectives </a:t>
            </a: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Methodology </a:t>
            </a: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SAP Analytics Cloud Features </a:t>
            </a: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Implementation Framework </a:t>
            </a: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Comparative Performance Analysis </a:t>
            </a: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Results &amp; Findings </a:t>
            </a: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Challenges Observed </a:t>
            </a: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Conclusion &amp; Future Scope</a:t>
            </a: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References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141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457200" y="1554480"/>
            <a:ext cx="7315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457199" y="1935965"/>
            <a:ext cx="8488017" cy="3484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r>
              <a:rPr lang="en-US" b="1" dirty="0"/>
              <a:t>Why Augmented Analytics is Important Today</a:t>
            </a:r>
          </a:p>
          <a:p>
            <a:endParaRPr lang="en-US" b="1" dirty="0"/>
          </a:p>
          <a:p>
            <a:r>
              <a:rPr lang="en-US" dirty="0"/>
              <a:t>Organizations generate massive amounts of enterprise data every day. Traditional Business Intelligence systems are no longer sufficient for handling complex and fast-paced decision-making requirements.</a:t>
            </a:r>
          </a:p>
          <a:p>
            <a:r>
              <a:rPr lang="en-US" dirty="0"/>
              <a:t>Augmented Analytics combines: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Artificial Intelligence (AI)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 (ML)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Natural Language Processing (NLP) </a:t>
            </a:r>
          </a:p>
          <a:p>
            <a:r>
              <a:rPr lang="en-US" dirty="0"/>
              <a:t>to automate: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preparation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Pattern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Predictive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Insight generation </a:t>
            </a:r>
          </a:p>
          <a:p>
            <a:r>
              <a:rPr lang="en-US" dirty="0"/>
              <a:t>SAP Analytics Cloud (SAC) integrates these technologies to improve business analytics and decision-making.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141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457200" y="1554480"/>
            <a:ext cx="7315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57200" y="2180645"/>
            <a:ext cx="8229600" cy="3268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analytics processes are: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technical experts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often create “analysis paralysis.”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modeling requires significant effort and expertise.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also face trust issues regarding AI-generated insights.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evaluates whether SAC can improve: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adoption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in AI analytics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457200" y="960120"/>
            <a:ext cx="8229600" cy="437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457200" y="1554480"/>
            <a:ext cx="7315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FC8345-03AD-6358-F8AB-8EC9360D771F}"/>
              </a:ext>
            </a:extLst>
          </p:cNvPr>
          <p:cNvSpPr txBox="1"/>
          <p:nvPr/>
        </p:nvSpPr>
        <p:spPr>
          <a:xfrm>
            <a:off x="389614" y="1788873"/>
            <a:ext cx="836477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evolved from static reporting to AI-driven analytics.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Gartner introduced the term “Augmented Analytics” in 2017.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Analytics integrates: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Generation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show AI-powered analytics improves: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speed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quality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major challenge identified in literature is the “Black Box” problem, where users do not fully trust AI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/>
        </p:nvSpPr>
        <p:spPr>
          <a:xfrm>
            <a:off x="457200" y="960120"/>
            <a:ext cx="8229600" cy="437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457200" y="1554480"/>
            <a:ext cx="7315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457200" y="2118570"/>
            <a:ext cx="8229600" cy="111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impact of Augmented Analytics in SAP Analytics Cloud.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augmented workflows with traditional manual workflows.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efficiency improvements in analytical tasks.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user trust and adoption behavior toward AI-powered analytics.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factors influencing successful implementation of SAC.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/>
        </p:nvSpPr>
        <p:spPr>
          <a:xfrm>
            <a:off x="457200" y="960120"/>
            <a:ext cx="8229600" cy="437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  <a:endParaRPr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457200" y="1554480"/>
            <a:ext cx="7315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363FE4-B178-55F8-6C92-D12E3E9FC43B}"/>
              </a:ext>
            </a:extLst>
          </p:cNvPr>
          <p:cNvSpPr txBox="1"/>
          <p:nvPr/>
        </p:nvSpPr>
        <p:spPr>
          <a:xfrm>
            <a:off x="457200" y="1996195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follows a Mixed Methods Research Design.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quantitative and qualitative analyses were performed.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was collected from 63 SAP Analytics Cloud professionals.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participants included: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Functional Consultants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methods: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survey questionnaire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performance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tasks were performed using both: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workflows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SAC augmented analytics workflows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/>
        </p:nvSpPr>
        <p:spPr>
          <a:xfrm>
            <a:off x="457200" y="960120"/>
            <a:ext cx="8229600" cy="437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Analytics Cloud Features </a:t>
            </a:r>
            <a:endParaRPr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457200" y="1554480"/>
            <a:ext cx="7315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640080" y="1828800"/>
            <a:ext cx="7863840" cy="4013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Discovery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identifies patterns, key influencers, and anomalies using Machine Learning.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Insights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unusual trends and anomalies automatically.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Ask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ask business questions in natural language.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to Insight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visualizations directly from search-based queries.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Predict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forecasting and predictive analytics without coding.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Joule AI Copilot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Generative AI to provide context-aware insights and explanations. 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/>
        </p:nvSpPr>
        <p:spPr>
          <a:xfrm>
            <a:off x="457200" y="960120"/>
            <a:ext cx="8229600" cy="437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Framework</a:t>
            </a:r>
            <a:endParaRPr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457200" y="1554480"/>
            <a:ext cx="7315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457200" y="1931409"/>
            <a:ext cx="8229600" cy="3268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r>
              <a:rPr lang="en-US" b="1" dirty="0"/>
              <a:t>Phase 1: Data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Enterprise procurement datasets were imported and cleaned in SAC. </a:t>
            </a:r>
          </a:p>
          <a:p>
            <a:endParaRPr lang="en-US" dirty="0"/>
          </a:p>
          <a:p>
            <a:r>
              <a:rPr lang="en-US" b="1" dirty="0"/>
              <a:t>Phase 2: Feature Activation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SAC augmented analytics features were configured and enabled. </a:t>
            </a:r>
          </a:p>
          <a:p>
            <a:endParaRPr lang="en-US" dirty="0"/>
          </a:p>
          <a:p>
            <a:r>
              <a:rPr lang="en-US" b="1" dirty="0"/>
              <a:t>Phase 3: Workflow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Smart Discovery, Smart Insights, Just Ask, and Smart Predict were executed.</a:t>
            </a:r>
          </a:p>
          <a:p>
            <a:r>
              <a:rPr lang="en-US" dirty="0"/>
              <a:t> </a:t>
            </a:r>
          </a:p>
          <a:p>
            <a:r>
              <a:rPr lang="en-US" b="1" dirty="0"/>
              <a:t>Phase 4: Manual Workflow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Traditional analytics methods were used for the same tasks. </a:t>
            </a:r>
          </a:p>
          <a:p>
            <a:endParaRPr lang="en-US" dirty="0"/>
          </a:p>
          <a:p>
            <a:r>
              <a:rPr lang="en-US" b="1" dirty="0"/>
              <a:t>Phase 5: Survey &amp;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evaluated efficiency, trust, and ease of use.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/>
        </p:nvSpPr>
        <p:spPr>
          <a:xfrm>
            <a:off x="457200" y="960120"/>
            <a:ext cx="8229600" cy="437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Performance Analysis</a:t>
            </a:r>
            <a:endParaRPr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457200" y="1554480"/>
            <a:ext cx="7315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0EC972-1F24-5BD4-C28F-B3DBBF2C8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80007"/>
              </p:ext>
            </p:extLst>
          </p:nvPr>
        </p:nvGraphicFramePr>
        <p:xfrm>
          <a:off x="617550" y="2280920"/>
          <a:ext cx="7500732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183">
                  <a:extLst>
                    <a:ext uri="{9D8B030D-6E8A-4147-A177-3AD203B41FA5}">
                      <a16:colId xmlns:a16="http://schemas.microsoft.com/office/drawing/2014/main" val="2297887589"/>
                    </a:ext>
                  </a:extLst>
                </a:gridCol>
                <a:gridCol w="1875183">
                  <a:extLst>
                    <a:ext uri="{9D8B030D-6E8A-4147-A177-3AD203B41FA5}">
                      <a16:colId xmlns:a16="http://schemas.microsoft.com/office/drawing/2014/main" val="2226191016"/>
                    </a:ext>
                  </a:extLst>
                </a:gridCol>
                <a:gridCol w="1875183">
                  <a:extLst>
                    <a:ext uri="{9D8B030D-6E8A-4147-A177-3AD203B41FA5}">
                      <a16:colId xmlns:a16="http://schemas.microsoft.com/office/drawing/2014/main" val="67197471"/>
                    </a:ext>
                  </a:extLst>
                </a:gridCol>
                <a:gridCol w="1875183">
                  <a:extLst>
                    <a:ext uri="{9D8B030D-6E8A-4147-A177-3AD203B41FA5}">
                      <a16:colId xmlns:a16="http://schemas.microsoft.com/office/drawing/2014/main" val="3229230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Analytical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Manual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SAC Augmented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Time Reduction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455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Profiling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 min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 min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78%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244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Outlier Detection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 min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 min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76%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898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Key Influencer Identification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 min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 min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84%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397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Predictive Forecasting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 min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 min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82%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911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9822D6-9C3F-178B-D403-3728FA184B59}"/>
              </a:ext>
            </a:extLst>
          </p:cNvPr>
          <p:cNvSpPr txBox="1"/>
          <p:nvPr/>
        </p:nvSpPr>
        <p:spPr>
          <a:xfrm>
            <a:off x="617550" y="4934188"/>
            <a:ext cx="6514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Observation</a:t>
            </a:r>
          </a:p>
          <a:p>
            <a:pPr>
              <a:buNone/>
            </a:pPr>
            <a:r>
              <a:rPr lang="en-US" dirty="0"/>
              <a:t>SAC significantly reduced analytical effort and improved productivity.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457200" y="960120"/>
            <a:ext cx="8229600" cy="437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Findings</a:t>
            </a:r>
            <a:endParaRPr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457200" y="1554480"/>
            <a:ext cx="7315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91ED4D-A872-7732-8541-E0E1A4797A23}"/>
              </a:ext>
            </a:extLst>
          </p:cNvPr>
          <p:cNvSpPr txBox="1"/>
          <p:nvPr/>
        </p:nvSpPr>
        <p:spPr>
          <a:xfrm>
            <a:off x="457200" y="2072001"/>
            <a:ext cx="744639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SAC achieved nearly 80% reduction in analysis time.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Discovery achieved: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92% outlier detection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rated efficiency improvements: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4.2/5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tools identified hidden business relationships automatically.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appreciated SAC for: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automation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/>
        </p:nvSpPr>
        <p:spPr>
          <a:xfrm>
            <a:off x="457200" y="960120"/>
            <a:ext cx="8229600" cy="437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Challenges Observed</a:t>
            </a:r>
            <a:endParaRPr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457200" y="1554480"/>
            <a:ext cx="7315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457200" y="1828800"/>
            <a:ext cx="8229600" cy="2622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Poor-quality data reduced AI prediction accuracy.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found it difficult to understand AI-generated reasoning.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Query 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queries produced inaccurate or incomplete outputs.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Training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users required guidance to interpret SAC outputs effectively.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/>
        </p:nvSpPr>
        <p:spPr>
          <a:xfrm>
            <a:off x="457200" y="960120"/>
            <a:ext cx="8229600" cy="437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457200" y="1554480"/>
            <a:ext cx="7315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640080" y="1828800"/>
            <a:ext cx="7863840" cy="354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Analytics Cloud significantly improves: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Analytics acts as a “Decision Accelerator.”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analysts remain important for validation and interpretation.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Explainable AI (XAI)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conversational AI capabilities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transparency in AI-generated insights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predictive forecasting systems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9;p27">
            <a:extLst>
              <a:ext uri="{FF2B5EF4-FFF2-40B4-BE49-F238E27FC236}">
                <a16:creationId xmlns:a16="http://schemas.microsoft.com/office/drawing/2014/main" id="{3221515C-22E8-521B-D8C8-91D027D875F3}"/>
              </a:ext>
            </a:extLst>
          </p:cNvPr>
          <p:cNvSpPr txBox="1"/>
          <p:nvPr/>
        </p:nvSpPr>
        <p:spPr>
          <a:xfrm>
            <a:off x="457200" y="960120"/>
            <a:ext cx="8229600" cy="437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90;p27">
            <a:extLst>
              <a:ext uri="{FF2B5EF4-FFF2-40B4-BE49-F238E27FC236}">
                <a16:creationId xmlns:a16="http://schemas.microsoft.com/office/drawing/2014/main" id="{39681D65-5BF0-C088-B72A-DB2FB0CEC422}"/>
              </a:ext>
            </a:extLst>
          </p:cNvPr>
          <p:cNvSpPr/>
          <p:nvPr/>
        </p:nvSpPr>
        <p:spPr>
          <a:xfrm>
            <a:off x="457200" y="1554480"/>
            <a:ext cx="7315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91;p27">
            <a:extLst>
              <a:ext uri="{FF2B5EF4-FFF2-40B4-BE49-F238E27FC236}">
                <a16:creationId xmlns:a16="http://schemas.microsoft.com/office/drawing/2014/main" id="{BDA166C5-B932-BD98-7F7C-8E3E9C101526}"/>
              </a:ext>
            </a:extLst>
          </p:cNvPr>
          <p:cNvSpPr txBox="1"/>
          <p:nvPr/>
        </p:nvSpPr>
        <p:spPr>
          <a:xfrm>
            <a:off x="640080" y="1828800"/>
            <a:ext cx="7863840" cy="354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Analytics Cloud significantly improves: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Analytics acts as a “Decision Accelerator.”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analysts remain important for validation and interpretation.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Explainable AI (XAI)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conversational AI capabilities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transparency in AI-generated insights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predictive forecasting systems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449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/>
        </p:nvSpPr>
        <p:spPr>
          <a:xfrm>
            <a:off x="457200" y="256032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>
                <a:solidFill>
                  <a:srgbClr val="141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4570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1">
                <a:solidFill>
                  <a:srgbClr val="C039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 &amp;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</Words>
  <Application>Microsoft Office PowerPoint</Application>
  <PresentationFormat>On-screen Show (4:3)</PresentationFormat>
  <Paragraphs>203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Prerna Dua</dc:creator>
  <cp:lastModifiedBy>Prerna Dua</cp:lastModifiedBy>
  <cp:revision>1</cp:revision>
  <dcterms:modified xsi:type="dcterms:W3CDTF">2026-05-20T08:43:33Z</dcterms:modified>
</cp:coreProperties>
</file>